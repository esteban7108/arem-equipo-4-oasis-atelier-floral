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6808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3108960"/>
            <a:ext cx="7772400" cy="7772400"/>
          </a:xfrm>
          <a:prstGeom prst="ellipse">
            <a:avLst/>
          </a:prstGeom>
          <a:solidFill>
            <a:srgbClr val="15254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-2926080" y="4023360"/>
            <a:ext cx="6035040" cy="6035040"/>
          </a:xfrm>
          <a:prstGeom prst="ellipse">
            <a:avLst/>
          </a:prstGeom>
          <a:solidFill>
            <a:srgbClr val="15254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9966960" y="5120640"/>
            <a:ext cx="1234440" cy="1234440"/>
          </a:xfrm>
          <a:prstGeom prst="ellipse">
            <a:avLst/>
          </a:prstGeom>
          <a:solidFill>
            <a:srgbClr val="0F9E8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EMPRESARIAL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33172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Oasis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731520" y="36118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Floristería personalizada · Sopó y Sabana Norte, Cundinamarca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levantamiento de la entrevista a un sistema de información para la gestión de clientes y pedidos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9808" y="5806440"/>
            <a:ext cx="1188720" cy="0"/>
          </a:xfrm>
          <a:prstGeom prst="line">
            <a:avLst/>
          </a:prstGeom>
          <a:noFill/>
          <a:ln w="31750">
            <a:solidFill>
              <a:srgbClr val="0F9E8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· Negocio · Sistemas de Información · Tecnología · Oportunidades · Migración · Gobernanza · Cambio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943600" cy="5943600"/>
          </a:xfrm>
          <a:prstGeom prst="ellipse">
            <a:avLst/>
          </a:prstGeom>
          <a:solidFill>
            <a:srgbClr val="15254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-2377440" y="4846320"/>
            <a:ext cx="4754880" cy="4754880"/>
          </a:xfrm>
          <a:prstGeom prst="ellipse">
            <a:avLst/>
          </a:prstGeom>
          <a:solidFill>
            <a:srgbClr val="15254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0" b="1" dirty="0">
                <a:solidFill>
                  <a:srgbClr val="0F9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685800" y="36118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de la Arquitectura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44348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es la empresa? Misión, visión, objetivo y la unidad de negocio que enfocaremos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DE LA ARQUITECTURA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¿Quiénes somos?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85816" cy="2084832"/>
          </a:xfrm>
          <a:prstGeom prst="roundRect">
            <a:avLst>
              <a:gd name="adj" fmla="val 3947"/>
            </a:avLst>
          </a:prstGeom>
          <a:solidFill>
            <a:srgbClr val="F7F9F9"/>
          </a:solidFill>
          <a:ln/>
          <a:effectLst>
            <a:outerShdw blurRad="76200" dist="25400" dir="54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804672" y="1837944"/>
            <a:ext cx="457200" cy="457200"/>
          </a:xfrm>
          <a:prstGeom prst="ellipse">
            <a:avLst/>
          </a:prstGeom>
          <a:solidFill>
            <a:srgbClr val="0F9E8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804672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819656"/>
            <a:ext cx="4288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04672" y="2441448"/>
            <a:ext cx="48737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 nace al identificar que en Sopó solo existían floristerías de arreglos básicos (estilo cementerio). El </a:t>
            </a:r>
            <a:r>
              <a:rPr lang="en-US" sz="1250" dirty="0" err="1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propietario</a:t>
            </a:r>
            <a:r>
              <a:rPr lang="en-US" sz="1250" dirty="0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detectó</a:t>
            </a:r>
            <a:r>
              <a:rPr lang="en-US" sz="1250" dirty="0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una oportunidad: arreglos estéticos y personalizados, inspirados en tendencias de redes sociales.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54496" y="1600200"/>
            <a:ext cx="5385816" cy="2084832"/>
          </a:xfrm>
          <a:prstGeom prst="roundRect">
            <a:avLst>
              <a:gd name="adj" fmla="val 3947"/>
            </a:avLst>
          </a:prstGeom>
          <a:solidFill>
            <a:srgbClr val="F7F9F9"/>
          </a:solidFill>
          <a:ln/>
          <a:effectLst>
            <a:outerShdw blurRad="76200" dist="25400" dir="54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6510528" y="1837944"/>
            <a:ext cx="457200" cy="457200"/>
          </a:xfrm>
          <a:prstGeom prst="ellipse">
            <a:avLst/>
          </a:prstGeom>
          <a:solidFill>
            <a:srgbClr val="0F9E8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510528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23176" y="1819656"/>
            <a:ext cx="4288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510528" y="2441448"/>
            <a:ext cx="48737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y elaboración de arreglos florales personalizados por encargo. Oasis no cultiva flores: las adquiere con proveedores y las transforma. Incluye tarjetería propia y, en fechas especiales, alianzas con emprendimientos de postres.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05072"/>
            <a:ext cx="5385816" cy="2084832"/>
          </a:xfrm>
          <a:prstGeom prst="roundRect">
            <a:avLst>
              <a:gd name="adj" fmla="val 3947"/>
            </a:avLst>
          </a:prstGeom>
          <a:solidFill>
            <a:srgbClr val="F7F9F9"/>
          </a:solidFill>
          <a:ln/>
          <a:effectLst>
            <a:outerShdw blurRad="76200" dist="25400" dir="54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804672" y="4242816"/>
            <a:ext cx="457200" cy="457200"/>
          </a:xfrm>
          <a:prstGeom prst="ellipse">
            <a:avLst/>
          </a:prstGeom>
          <a:solidFill>
            <a:srgbClr val="0F9E8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804672" y="4242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4224528"/>
            <a:ext cx="4288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04672" y="4846320"/>
            <a:ext cx="48737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250" dirty="0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personas: El </a:t>
            </a:r>
            <a:r>
              <a:rPr lang="en-US" sz="1250" dirty="0" err="1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propietario</a:t>
            </a:r>
            <a:r>
              <a:rPr lang="en-US" sz="1250" dirty="0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(elaboración, compras, tarjetería, apoyo en entregas) y su mamá (redes sociales, publicidad, contacto con clientes, apoyo en entregas).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54496" y="4005072"/>
            <a:ext cx="5385816" cy="2084832"/>
          </a:xfrm>
          <a:prstGeom prst="roundRect">
            <a:avLst>
              <a:gd name="adj" fmla="val 3947"/>
            </a:avLst>
          </a:prstGeom>
          <a:solidFill>
            <a:srgbClr val="F7F9F9"/>
          </a:solidFill>
          <a:ln/>
          <a:effectLst>
            <a:outerShdw blurRad="76200" dist="25400" dir="54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6510528" y="4242816"/>
            <a:ext cx="457200" cy="457200"/>
          </a:xfrm>
          <a:prstGeom prst="ellipse">
            <a:avLst/>
          </a:prstGeom>
          <a:solidFill>
            <a:srgbClr val="0F9E8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6510528" y="4242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23176" y="4224528"/>
            <a:ext cx="4288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y canal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510528" y="4846320"/>
            <a:ext cx="48737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Jóvenes entre 15 y 25 años, alcanzados por Instagram (reconocimiento) y WhatsApp (pedidos). El crecimiento se ha dado principalmente por voz a voz y recomendación entre clientes.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Visión de la Arquitectura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348472" y="652881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 · Arquitectura Empresarial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DE LA ARQUITECTURA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Misión, vision de la </a:t>
            </a:r>
            <a:r>
              <a:rPr lang="en-US" sz="2700" b="1" dirty="0" err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</a:t>
            </a:r>
            <a:r>
              <a:rPr lang="en-US" sz="2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2700" b="1" dirty="0" err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r>
              <a:rPr lang="en-US" sz="2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</a:t>
            </a:r>
            <a:r>
              <a:rPr lang="en-US" sz="2700" b="1" dirty="0" err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10881360" cy="1481328"/>
          </a:xfrm>
          <a:prstGeom prst="roundRect">
            <a:avLst>
              <a:gd name="adj" fmla="val 4938"/>
            </a:avLst>
          </a:prstGeom>
          <a:solidFill>
            <a:srgbClr val="F7F9F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128016" cy="1481328"/>
          </a:xfrm>
          <a:prstGeom prst="round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960120" y="18013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Misión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148840"/>
            <a:ext cx="10241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y elaborar arreglos florales personalizados de alta calidad para clientes en Sopó y la Sabana Norte, ofreciendo una experiencia estética, cercana y a la medida de cada ocasión.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3429000"/>
            <a:ext cx="10881360" cy="1481328"/>
          </a:xfrm>
          <a:prstGeom prst="roundRect">
            <a:avLst>
              <a:gd name="adj" fmla="val 4938"/>
            </a:avLst>
          </a:prstGeom>
          <a:solidFill>
            <a:srgbClr val="F7F9F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594360" y="3429000"/>
            <a:ext cx="128016" cy="1481328"/>
          </a:xfrm>
          <a:prstGeom prst="roundRect">
            <a:avLst/>
          </a:prstGeom>
          <a:solidFill>
            <a:srgbClr val="0F9E8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960120" y="35387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3886200"/>
            <a:ext cx="10241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reconocida como la floristería líder en personalización y calidad de la Sabana Norte, contando con un punto físico propio que le permita llegar a nuevos segmentos de clientes.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4360" y="5166360"/>
            <a:ext cx="10881360" cy="1106424"/>
          </a:xfrm>
          <a:prstGeom prst="roundRect">
            <a:avLst>
              <a:gd name="adj" fmla="val 4938"/>
            </a:avLst>
          </a:prstGeom>
          <a:solidFill>
            <a:srgbClr val="F7F9F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594360" y="5166360"/>
            <a:ext cx="91440" cy="1033272"/>
          </a:xfrm>
          <a:prstGeom prst="roundRect">
            <a:avLst/>
          </a:prstGeom>
          <a:solidFill>
            <a:srgbClr val="E3A6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960120" y="52760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3A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del proyecto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0120" y="5623560"/>
            <a:ext cx="10241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Optimizar la gestión de clientes y pedidos de Oasis mediante un sistema de información sencillo, que centralice el registro y seguimiento de las solicitudes para reducir tiempos de respuesta y evitar pérdida de ventas.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Visión de la Arquitectura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348472" y="652881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 · Arquitectura Empresarial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DE LA ARQUITECTURA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unidad de negocio atacamos?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600200"/>
            <a:ext cx="108813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levantamiento identificó 5 procesos en Oasis: Gestión de pedidos, Abastecimiento, Elaboración del arreglo, Validación y entrega, y Marketing y clientes.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a la pregunta “si pudiera mejorar un solo proceso, ¿cuál sería?”, </a:t>
            </a:r>
            <a:r>
              <a:rPr lang="en-US" sz="1600" dirty="0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n-US" sz="1600" dirty="0" err="1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propietario</a:t>
            </a:r>
            <a:r>
              <a:rPr lang="en-US" sz="150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eligió el contacto y la comunicación con el cliente.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–"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seleccionada: Gestión de Clientes y Pedidos.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actividad más repetitiva del día a día (cada arreglo implica una conversación con su cliente).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principal causa de retrasos identificada: mensajes que se responden “al otro día”.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viable de resolver con un sistema de información simple — a diferencia de la gestión de proveedores, que depende de terceros externos.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busca acelerar la elaboración del arreglo (ahí está la calidad); sí se busca acelerar el contacto, la cotización y el seguimiento.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Visión de la Arquitectura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348472" y="652881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 · Arquitectura Empresarial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943600" cy="5943600"/>
          </a:xfrm>
          <a:prstGeom prst="ellipse">
            <a:avLst/>
          </a:prstGeom>
          <a:solidFill>
            <a:srgbClr val="15254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-2377440" y="4846320"/>
            <a:ext cx="4754880" cy="4754880"/>
          </a:xfrm>
          <a:prstGeom prst="ellipse">
            <a:avLst/>
          </a:prstGeom>
          <a:solidFill>
            <a:srgbClr val="15254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0" b="1" dirty="0">
                <a:solidFill>
                  <a:srgbClr val="0F9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685800" y="36118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Negocio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44348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hace actualmente el proceso? ¿Qué sabemos hoy de la operación de Oasis?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NEGOCIO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negocio actual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85816" cy="2084832"/>
          </a:xfrm>
          <a:prstGeom prst="roundRect">
            <a:avLst>
              <a:gd name="adj" fmla="val 3947"/>
            </a:avLst>
          </a:prstGeom>
          <a:solidFill>
            <a:srgbClr val="F7F9F9"/>
          </a:solidFill>
          <a:ln/>
          <a:effectLst>
            <a:outerShdw blurRad="76200" dist="25400" dir="54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804672" y="1837944"/>
            <a:ext cx="457200" cy="457200"/>
          </a:xfrm>
          <a:prstGeom prst="ellipse">
            <a:avLst/>
          </a:prstGeom>
          <a:solidFill>
            <a:srgbClr val="0F9E8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804672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819656"/>
            <a:ext cx="4288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Captación y pedidos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04672" y="2441448"/>
            <a:ext cx="48737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para reconocimiento y llegada de nuevos clientes; WhatsApp para recibir y gestionar los pedidos. Todo el flujo se maneja por conversación manual, sin ningún apoyo digital.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54496" y="1600200"/>
            <a:ext cx="5385816" cy="2084832"/>
          </a:xfrm>
          <a:prstGeom prst="roundRect">
            <a:avLst>
              <a:gd name="adj" fmla="val 3947"/>
            </a:avLst>
          </a:prstGeom>
          <a:solidFill>
            <a:srgbClr val="F7F9F9"/>
          </a:solidFill>
          <a:ln/>
          <a:effectLst>
            <a:outerShdw blurRad="76200" dist="25400" dir="54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6510528" y="1837944"/>
            <a:ext cx="457200" cy="457200"/>
          </a:xfrm>
          <a:prstGeom prst="ellipse">
            <a:avLst/>
          </a:prstGeom>
          <a:solidFill>
            <a:srgbClr val="0F9E8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510528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23176" y="1819656"/>
            <a:ext cx="4288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bajo pedido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510528" y="2441448"/>
            <a:ext cx="48737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250" dirty="0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n-US" sz="1250" dirty="0" err="1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propietario</a:t>
            </a:r>
            <a:r>
              <a:rPr lang="en-US" sz="1250" dirty="0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surte</a:t>
            </a:r>
            <a:r>
              <a:rPr lang="en-US" sz="1250" dirty="0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flores con proveedores un día hábil cercano a la entrega (para que estén frescas). Una compra semanal alcanza para elaborar hasta ~10 arreglos.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05072"/>
            <a:ext cx="5385816" cy="2084832"/>
          </a:xfrm>
          <a:prstGeom prst="roundRect">
            <a:avLst>
              <a:gd name="adj" fmla="val 3947"/>
            </a:avLst>
          </a:prstGeom>
          <a:solidFill>
            <a:srgbClr val="F7F9F9"/>
          </a:solidFill>
          <a:ln/>
          <a:effectLst>
            <a:outerShdw blurRad="76200" dist="25400" dir="54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804672" y="4242816"/>
            <a:ext cx="457200" cy="457200"/>
          </a:xfrm>
          <a:prstGeom prst="ellipse">
            <a:avLst/>
          </a:prstGeom>
          <a:solidFill>
            <a:srgbClr val="0F9E8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804672" y="4242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4224528"/>
            <a:ext cx="4288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del equipo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04672" y="4846320"/>
            <a:ext cx="48737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 err="1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Propietario</a:t>
            </a:r>
            <a:r>
              <a:rPr lang="en-US" sz="1250" dirty="0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elaboración de arreglos, compra de materia prima, diseño e impresión de tarjetas (en papel opalina) y apoyo en entregas. </a:t>
            </a:r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Mamá: publicidad, manejo autónomo de redes y contacto con clientes.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54496" y="4005072"/>
            <a:ext cx="5385816" cy="2084832"/>
          </a:xfrm>
          <a:prstGeom prst="roundRect">
            <a:avLst>
              <a:gd name="adj" fmla="val 3947"/>
            </a:avLst>
          </a:prstGeom>
          <a:solidFill>
            <a:srgbClr val="F7F9F9"/>
          </a:solidFill>
          <a:ln/>
          <a:effectLst>
            <a:outerShdw blurRad="76200" dist="25400" dir="54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6510528" y="4242816"/>
            <a:ext cx="457200" cy="457200"/>
          </a:xfrm>
          <a:prstGeom prst="ellipse">
            <a:avLst/>
          </a:prstGeom>
          <a:solidFill>
            <a:srgbClr val="0F9E8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6510528" y="4242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23176" y="4224528"/>
            <a:ext cx="4288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Alianzas en fechas especiales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510528" y="4846320"/>
            <a:ext cx="48737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fechas comerciales (San Valentín, Día de la Madre, etc.) Oasis se alía con emprendimientos de mini donas y fresas con chocolate para complementar la oferta.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Capa de Negocio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348472" y="652881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 · Arquitectura Empresarial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NEGOCIO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identificados en el proceso actual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600200"/>
            <a:ext cx="108813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tardía con clientes: los mensajes pueden quedar sin responder por horas y terminar contestándose al día siguiente.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un registro centralizado de solicitudes, cotizaciones ni del estado de cada pedido — todo depende de la memoria o del historial de WhatsApp.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Proveedores sin relación fija: Oasis se acopla a la disponibilidad de proveedores que priorizan a sus clientes de mayor volumen, generando variabilidad en la calidad de las flores.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Imposible dar seguimiento sistemático a cada solicitud o saber cuáles quedaron sin atender.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–"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Consecuencia directa: menor engagement, dificultad para captar nuevos clientes y riesgo de pérdida de ventas.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Capa de Negocio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348472" y="652881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 · Arquitectura Empresarial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NEGOCIO · DIAGRAMA DE PROCESOS (BPMN)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AS-IS: gestión de clientes y pedidos</a:t>
            </a:r>
            <a:endParaRPr lang="en-US" sz="2700" dirty="0"/>
          </a:p>
        </p:txBody>
      </p:sp>
      <p:pic>
        <p:nvPicPr>
          <p:cNvPr id="4" name="Image 0" descr="/tmp/oasis_ae/diagrams/bpmn_a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674" y="1508760"/>
            <a:ext cx="10137604" cy="4434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601675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2 de 3 — Notación BPMN. Flujo manual actual por Instagram y WhatsApp, sin sistema de información.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Capa de Negocio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348472" y="652881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 · Arquitectura Empresarial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943600" cy="5943600"/>
          </a:xfrm>
          <a:prstGeom prst="ellipse">
            <a:avLst/>
          </a:prstGeom>
          <a:solidFill>
            <a:srgbClr val="15254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-2377440" y="4846320"/>
            <a:ext cx="4754880" cy="4754880"/>
          </a:xfrm>
          <a:prstGeom prst="ellipse">
            <a:avLst/>
          </a:prstGeom>
          <a:solidFill>
            <a:srgbClr val="15254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0" b="1" dirty="0">
                <a:solidFill>
                  <a:srgbClr val="0F9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685800" y="36118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 de Información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44348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información rodea el proceso de gestión de clientes y pedidos?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 DE INFORMACIÓN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que rodea el proceso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83864" cy="2084832"/>
          </a:xfrm>
          <a:prstGeom prst="roundRect">
            <a:avLst>
              <a:gd name="adj" fmla="val 3947"/>
            </a:avLst>
          </a:prstGeom>
          <a:solidFill>
            <a:srgbClr val="F7F9F9"/>
          </a:solidFill>
          <a:ln/>
          <a:effectLst>
            <a:outerShdw blurRad="76200" dist="25400" dir="54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804672" y="1837944"/>
            <a:ext cx="457200" cy="457200"/>
          </a:xfrm>
          <a:prstGeom prst="ellipse">
            <a:avLst/>
          </a:prstGeom>
          <a:solidFill>
            <a:srgbClr val="0F9E8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804672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819656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04672" y="2441448"/>
            <a:ext cx="2971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Nombre, </a:t>
            </a:r>
            <a:r>
              <a:rPr lang="en-US" sz="1250" dirty="0" err="1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teléfono</a:t>
            </a:r>
            <a:r>
              <a:rPr lang="en-US" sz="1250" dirty="0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250" dirty="0" err="1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r>
              <a:rPr lang="en-US" sz="1250" dirty="0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canal de contacto de cada persona que solicita un arreglo.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52544" y="1600200"/>
            <a:ext cx="3483864" cy="2084832"/>
          </a:xfrm>
          <a:prstGeom prst="roundRect">
            <a:avLst>
              <a:gd name="adj" fmla="val 3947"/>
            </a:avLst>
          </a:prstGeom>
          <a:solidFill>
            <a:srgbClr val="F7F9F9"/>
          </a:solidFill>
          <a:ln/>
          <a:effectLst>
            <a:outerShdw blurRad="76200" dist="25400" dir="54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608576" y="1837944"/>
            <a:ext cx="457200" cy="457200"/>
          </a:xfrm>
          <a:prstGeom prst="ellipse">
            <a:avLst/>
          </a:prstGeom>
          <a:solidFill>
            <a:srgbClr val="0F9E8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608576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21224" y="1819656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608576" y="2441448"/>
            <a:ext cx="2971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el cliente pide: descripción, referencia (imagen) y fecha de la solicitud.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56448" y="1600200"/>
            <a:ext cx="3483864" cy="2084832"/>
          </a:xfrm>
          <a:prstGeom prst="roundRect">
            <a:avLst>
              <a:gd name="adj" fmla="val 3947"/>
            </a:avLst>
          </a:prstGeom>
          <a:solidFill>
            <a:srgbClr val="F7F9F9"/>
          </a:solidFill>
          <a:ln/>
          <a:effectLst>
            <a:outerShdw blurRad="76200" dist="25400" dir="54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8412480" y="1837944"/>
            <a:ext cx="457200" cy="457200"/>
          </a:xfrm>
          <a:prstGeom prst="ellipse">
            <a:avLst/>
          </a:prstGeom>
          <a:solidFill>
            <a:srgbClr val="0F9E8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8412480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025128" y="1819656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Cotización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412480" y="2441448"/>
            <a:ext cx="2971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y condiciones ofrecidas a partir de una solicitud aceptada.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005072"/>
            <a:ext cx="3483864" cy="2084832"/>
          </a:xfrm>
          <a:prstGeom prst="roundRect">
            <a:avLst>
              <a:gd name="adj" fmla="val 3947"/>
            </a:avLst>
          </a:prstGeom>
          <a:solidFill>
            <a:srgbClr val="F7F9F9"/>
          </a:solidFill>
          <a:ln/>
          <a:effectLst>
            <a:outerShdw blurRad="76200" dist="25400" dir="54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804672" y="4242816"/>
            <a:ext cx="457200" cy="457200"/>
          </a:xfrm>
          <a:prstGeom prst="ellipse">
            <a:avLst/>
          </a:prstGeom>
          <a:solidFill>
            <a:srgbClr val="0F9E8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804672" y="4242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4224528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y estado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04672" y="4846320"/>
            <a:ext cx="2971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Solicitado, cotizado, confirmado, en elaboración, pendiente de aprobación, listo, entregado.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52544" y="4005072"/>
            <a:ext cx="3483864" cy="2084832"/>
          </a:xfrm>
          <a:prstGeom prst="roundRect">
            <a:avLst>
              <a:gd name="adj" fmla="val 3947"/>
            </a:avLst>
          </a:prstGeom>
          <a:solidFill>
            <a:srgbClr val="F7F9F9"/>
          </a:solidFill>
          <a:ln/>
          <a:effectLst>
            <a:outerShdw blurRad="76200" dist="25400" dir="54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4608576" y="4242816"/>
            <a:ext cx="457200" cy="457200"/>
          </a:xfrm>
          <a:prstGeom prst="ellipse">
            <a:avLst/>
          </a:prstGeom>
          <a:solidFill>
            <a:srgbClr val="0F9E8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4608576" y="4242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21224" y="4224528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Arreglo y materia prima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4608576" y="4846320"/>
            <a:ext cx="2971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flor, accesorios y tarjetería de cada arreglo, y las flores usadas por proveedor.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56448" y="4005072"/>
            <a:ext cx="3483864" cy="2084832"/>
          </a:xfrm>
          <a:prstGeom prst="roundRect">
            <a:avLst>
              <a:gd name="adj" fmla="val 3947"/>
            </a:avLst>
          </a:prstGeom>
          <a:solidFill>
            <a:srgbClr val="F7F9F9"/>
          </a:solidFill>
          <a:ln/>
          <a:effectLst>
            <a:outerShdw blurRad="76200" dist="25400" dir="54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8412480" y="4242816"/>
            <a:ext cx="457200" cy="457200"/>
          </a:xfrm>
          <a:prstGeom prst="ellipse">
            <a:avLst/>
          </a:prstGeom>
          <a:solidFill>
            <a:srgbClr val="0F9E8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8412480" y="4242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025128" y="4224528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 y entrega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8412480" y="4846320"/>
            <a:ext cx="2971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del proveedor de flores, y dirección/fecha/responsable de cada entrega.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Arquitectura del Sistema de Información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348472" y="652881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 · Arquitectura Empresarial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 DE INFORMACIÓN · DIAGRAMA 1 DE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Entidad-Relación (ERD)</a:t>
            </a:r>
            <a:endParaRPr lang="en-US" sz="2700" dirty="0"/>
          </a:p>
        </p:txBody>
      </p:sp>
      <p:pic>
        <p:nvPicPr>
          <p:cNvPr id="4" name="Image 0" descr="/tmp/oasis_ae/diagrams/erd_oa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" y="2514331"/>
            <a:ext cx="11155680" cy="2440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601675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Notación de Chen: entidades, atributos clave y cardinalidades del sistema propuesto para Oasis.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Arquitectura del Sistema de Información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348472" y="652881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 · Arquitectura Empresarial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 DE INFORMACIÓN · DIAGRAMA 3 DE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relacional (esquema de tablas)</a:t>
            </a:r>
            <a:endParaRPr lang="en-US" sz="2700" dirty="0"/>
          </a:p>
        </p:txBody>
      </p:sp>
      <p:pic>
        <p:nvPicPr>
          <p:cNvPr id="4" name="Image 0" descr="/tmp/oasis_ae/diagrams/rel_oa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527" y="1508760"/>
            <a:ext cx="10941897" cy="4434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601675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derivadas del ERD, con llaves primarias (PK) y foráneas (FK) listas para implementarse en una base de datos SQL.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Arquitectura del Sistema de Información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348472" y="652881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 · Arquitectura Empresarial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943600" cy="5943600"/>
          </a:xfrm>
          <a:prstGeom prst="ellipse">
            <a:avLst/>
          </a:prstGeom>
          <a:solidFill>
            <a:srgbClr val="15254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-2377440" y="4846320"/>
            <a:ext cx="4754880" cy="4754880"/>
          </a:xfrm>
          <a:prstGeom prst="ellipse">
            <a:avLst/>
          </a:prstGeom>
          <a:solidFill>
            <a:srgbClr val="15254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0" b="1" dirty="0">
                <a:solidFill>
                  <a:srgbClr val="0F9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685800" y="36118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Tecnológica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44348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cliente-servidor simple, acorde al tamaño de Oasis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TECNOLÓGICA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cliente-servidor propuesto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2331720"/>
            <a:ext cx="3063240" cy="1371600"/>
          </a:xfrm>
          <a:prstGeom prst="roundRect">
            <a:avLst>
              <a:gd name="adj" fmla="val 6000"/>
            </a:avLst>
          </a:prstGeom>
          <a:solidFill>
            <a:srgbClr val="F7F9F9"/>
          </a:solidFill>
          <a:ln w="17780">
            <a:solidFill>
              <a:srgbClr val="0F9E8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914400" y="245973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84378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web ligera / WhatsApp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1729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Usada por la propietaria y su mamá desde el celular para registrar solicitudes, cotizar y ver el estado de los pedidos.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34840" y="2331720"/>
            <a:ext cx="3291840" cy="1371600"/>
          </a:xfrm>
          <a:prstGeom prst="roundRect">
            <a:avLst>
              <a:gd name="adj" fmla="val 6000"/>
            </a:avLst>
          </a:prstGeom>
          <a:solidFill>
            <a:srgbClr val="F7F9F9"/>
          </a:solidFill>
          <a:ln w="1778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663440" y="245973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63440" y="284378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63440" y="317296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la lógica de solicitudes, cotizaciones, pedidos, estados y notificaciones. Punto único de acceso a los datos.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412480" y="2331720"/>
            <a:ext cx="3063240" cy="1371600"/>
          </a:xfrm>
          <a:prstGeom prst="roundRect">
            <a:avLst>
              <a:gd name="adj" fmla="val 6000"/>
            </a:avLst>
          </a:prstGeom>
          <a:solidFill>
            <a:srgbClr val="F7F9F9"/>
          </a:solidFill>
          <a:ln w="17780">
            <a:solidFill>
              <a:srgbClr val="E3A6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8641080" y="245973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3A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641080" y="284378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Relacional (SQL)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41080" y="31729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 el modelo entidad-relación definido: clientes, solicitudes, cotizaciones, pedidos, arreglos y proveedores.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94760" y="3017520"/>
            <a:ext cx="594360" cy="0"/>
          </a:xfrm>
          <a:prstGeom prst="line">
            <a:avLst/>
          </a:prstGeom>
          <a:noFill/>
          <a:ln w="25400">
            <a:solidFill>
              <a:srgbClr val="5B6570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7772400" y="3017520"/>
            <a:ext cx="594360" cy="0"/>
          </a:xfrm>
          <a:prstGeom prst="line">
            <a:avLst/>
          </a:prstGeom>
          <a:noFill/>
          <a:ln w="25400">
            <a:solidFill>
              <a:srgbClr val="5B6570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85800" y="4160520"/>
            <a:ext cx="107899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en un proveedor cloud de bajo costo (p. ej. Railway, Render o Supabase), acorde al tamaño del emprendimiento.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futura con WhatsApp Business API para notificar automáticamente cambios de estado al cliente.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desde cualquier dispositivo con navegador: no requiere instalar software adicional en el celular de la propietaria o su mamá.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Arquitectura Tecnológica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348472" y="652881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 · Arquitectura Empresarial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943600" cy="5943600"/>
          </a:xfrm>
          <a:prstGeom prst="ellipse">
            <a:avLst/>
          </a:prstGeom>
          <a:solidFill>
            <a:srgbClr val="15254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-2377440" y="4846320"/>
            <a:ext cx="4754880" cy="4754880"/>
          </a:xfrm>
          <a:prstGeom prst="ellipse">
            <a:avLst/>
          </a:prstGeom>
          <a:solidFill>
            <a:srgbClr val="15254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0" b="1" dirty="0">
                <a:solidFill>
                  <a:srgbClr val="0F9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685800" y="36118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 y Soluciones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44348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Iniciativas priorizadas para atacar el problema de comunicación y seguimiento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 Y SOLUCIONES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Iniciativas priorizadas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83864" cy="2084832"/>
          </a:xfrm>
          <a:prstGeom prst="roundRect">
            <a:avLst>
              <a:gd name="adj" fmla="val 3947"/>
            </a:avLst>
          </a:prstGeom>
          <a:solidFill>
            <a:srgbClr val="F7F9F9"/>
          </a:solidFill>
          <a:ln/>
          <a:effectLst>
            <a:outerShdw blurRad="76200" dist="25400" dir="54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804672" y="1837944"/>
            <a:ext cx="457200" cy="457200"/>
          </a:xfrm>
          <a:prstGeom prst="ellipse">
            <a:avLst/>
          </a:prstGeom>
          <a:solidFill>
            <a:srgbClr val="0F9E8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804672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819656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Solicitudes pendientes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04672" y="2441448"/>
            <a:ext cx="2971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“solicitudes pendientes de respuesta” — ataca directamente el hallazgo de la entrevista: mensajes que se dejan para después y terminan respondiéndose al día siguiente.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52544" y="1600200"/>
            <a:ext cx="3483864" cy="2084832"/>
          </a:xfrm>
          <a:prstGeom prst="roundRect">
            <a:avLst>
              <a:gd name="adj" fmla="val 3947"/>
            </a:avLst>
          </a:prstGeom>
          <a:solidFill>
            <a:srgbClr val="F7F9F9"/>
          </a:solidFill>
          <a:ln/>
          <a:effectLst>
            <a:outerShdw blurRad="76200" dist="25400" dir="54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608576" y="1837944"/>
            <a:ext cx="457200" cy="457200"/>
          </a:xfrm>
          <a:prstGeom prst="ellipse">
            <a:avLst/>
          </a:prstGeom>
          <a:solidFill>
            <a:srgbClr val="0F9E8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608576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21224" y="1819656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digital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608576" y="2441448"/>
            <a:ext cx="2971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clientes y pedidos que reemplaza la memoria y el historial disperso de WhatsApp.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56448" y="1600200"/>
            <a:ext cx="3483864" cy="2084832"/>
          </a:xfrm>
          <a:prstGeom prst="roundRect">
            <a:avLst>
              <a:gd name="adj" fmla="val 3947"/>
            </a:avLst>
          </a:prstGeom>
          <a:solidFill>
            <a:srgbClr val="F7F9F9"/>
          </a:solidFill>
          <a:ln/>
          <a:effectLst>
            <a:outerShdw blurRad="76200" dist="25400" dir="54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8412480" y="1837944"/>
            <a:ext cx="457200" cy="457200"/>
          </a:xfrm>
          <a:prstGeom prst="ellipse">
            <a:avLst/>
          </a:prstGeom>
          <a:solidFill>
            <a:srgbClr val="0F9E8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8412480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025128" y="1819656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Cotización estándar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412480" y="2441448"/>
            <a:ext cx="2971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 de cotización dentro del sistema, agilizando la actividad más repetitiva del día a día.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005072"/>
            <a:ext cx="3483864" cy="2084832"/>
          </a:xfrm>
          <a:prstGeom prst="roundRect">
            <a:avLst>
              <a:gd name="adj" fmla="val 3947"/>
            </a:avLst>
          </a:prstGeom>
          <a:solidFill>
            <a:srgbClr val="F7F9F9"/>
          </a:solidFill>
          <a:ln/>
          <a:effectLst>
            <a:outerShdw blurRad="76200" dist="25400" dir="54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804672" y="4242816"/>
            <a:ext cx="457200" cy="457200"/>
          </a:xfrm>
          <a:prstGeom prst="ellipse">
            <a:avLst/>
          </a:prstGeom>
          <a:solidFill>
            <a:srgbClr val="0F9E8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804672" y="4242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4224528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de pedido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04672" y="4846320"/>
            <a:ext cx="2971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Solicitado · cotizado · confirmado · en elaboración · pendiente de aprobación · listo · entregado.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52544" y="4005072"/>
            <a:ext cx="3483864" cy="2084832"/>
          </a:xfrm>
          <a:prstGeom prst="roundRect">
            <a:avLst>
              <a:gd name="adj" fmla="val 3947"/>
            </a:avLst>
          </a:prstGeom>
          <a:solidFill>
            <a:srgbClr val="F7F9F9"/>
          </a:solidFill>
          <a:ln/>
          <a:effectLst>
            <a:outerShdw blurRad="76200" dist="25400" dir="54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4608576" y="4242816"/>
            <a:ext cx="457200" cy="457200"/>
          </a:xfrm>
          <a:prstGeom prst="ellipse">
            <a:avLst/>
          </a:prstGeom>
          <a:solidFill>
            <a:srgbClr val="0F9E8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4608576" y="4242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21224" y="4224528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por cliente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4608576" y="4846320"/>
            <a:ext cx="2971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de pedidos anteriores, útil para personalización y fidelización a futuro.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56448" y="4005072"/>
            <a:ext cx="3483864" cy="2084832"/>
          </a:xfrm>
          <a:prstGeom prst="roundRect">
            <a:avLst>
              <a:gd name="adj" fmla="val 3947"/>
            </a:avLst>
          </a:prstGeom>
          <a:solidFill>
            <a:srgbClr val="F7F9F9"/>
          </a:solidFill>
          <a:ln/>
          <a:effectLst>
            <a:outerShdw blurRad="76200" dist="25400" dir="54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8412480" y="4242816"/>
            <a:ext cx="457200" cy="457200"/>
          </a:xfrm>
          <a:prstGeom prst="ellipse">
            <a:avLst/>
          </a:prstGeom>
          <a:solidFill>
            <a:srgbClr val="0F9E8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8412480" y="4242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025128" y="4224528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principal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8412480" y="4846320"/>
            <a:ext cx="2971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 pedidos pendientes, próximos a entregar y solicitudes sin atender, para el equipo de 2 personas.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Oportunidades y Soluciones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348472" y="652881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 · Arquitectura Empresarial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564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 Y SOLUCIONES · DIAGRAMA 2 DE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45996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TO-BE: gestión de clientes y pedidos</a:t>
            </a:r>
            <a:endParaRPr lang="en-US" sz="2700" dirty="0"/>
          </a:p>
        </p:txBody>
      </p:sp>
      <p:pic>
        <p:nvPicPr>
          <p:cNvPr id="4" name="Image 0" descr="/tmp/oasis_ae/diagrams/bpmn_tobe.png"/>
          <p:cNvPicPr>
            <a:picLocks noChangeAspect="1"/>
          </p:cNvPicPr>
          <p:nvPr/>
        </p:nvPicPr>
        <p:blipFill>
          <a:blip r:embed="rId3"/>
          <a:srcRect l="2890" r="1469"/>
          <a:stretch>
            <a:fillRect/>
          </a:stretch>
        </p:blipFill>
        <p:spPr>
          <a:xfrm>
            <a:off x="310551" y="1209250"/>
            <a:ext cx="11421201" cy="52282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Oportunidades y Soluciones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348472" y="652881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 · Arquitectura Empresarial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943600" cy="5943600"/>
          </a:xfrm>
          <a:prstGeom prst="ellipse">
            <a:avLst/>
          </a:prstGeom>
          <a:solidFill>
            <a:srgbClr val="15254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-2377440" y="4846320"/>
            <a:ext cx="4754880" cy="4754880"/>
          </a:xfrm>
          <a:prstGeom prst="ellipse">
            <a:avLst/>
          </a:prstGeom>
          <a:solidFill>
            <a:srgbClr val="15254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0" b="1" dirty="0">
                <a:solidFill>
                  <a:srgbClr val="0F9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685800" y="36118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Migración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44348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implementación gradual, realista para un emprendimiento de 2 personas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MIGRACIÓN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de implementación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4400" y="2651760"/>
            <a:ext cx="10296144" cy="0"/>
          </a:xfrm>
          <a:prstGeom prst="line">
            <a:avLst/>
          </a:prstGeom>
          <a:noFill/>
          <a:ln w="50800">
            <a:solidFill>
              <a:srgbClr val="EAF2F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365760" cy="365760"/>
          </a:xfrm>
          <a:prstGeom prst="ellipse">
            <a:avLst/>
          </a:prstGeom>
          <a:solidFill>
            <a:srgbClr val="0F9E8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594360" y="292608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324612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 mes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3566160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F7F9F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777240" y="3703320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sin desarrollo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4142232"/>
            <a:ext cx="21762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digital básico en una hoja compartida (Google Sheets / Airtable) para centralizar solicitudes y estados.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29584" y="2468880"/>
            <a:ext cx="365760" cy="365760"/>
          </a:xfrm>
          <a:prstGeom prst="ellipse">
            <a:avLst/>
          </a:prstGeom>
          <a:solidFill>
            <a:srgbClr val="0F9E8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392424" y="292608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92424" y="324612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meses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92424" y="3566160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F7F9F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3575304" y="3703320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propio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75304" y="4142232"/>
            <a:ext cx="21762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del formulario de solicitud y el panel de pedidos, según el modelo de datos (ERD) definido.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27648" y="2468880"/>
            <a:ext cx="365760" cy="365760"/>
          </a:xfrm>
          <a:prstGeom prst="ellipse">
            <a:avLst/>
          </a:prstGeom>
          <a:solidFill>
            <a:srgbClr val="0F9E8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190488" y="292608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90488" y="324612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meses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90488" y="3566160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F7F9F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6373368" y="3703320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73368" y="4142232"/>
            <a:ext cx="21762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WhatsApp para notificar automáticamente cambios de estado al cliente.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125712" y="2468880"/>
            <a:ext cx="365760" cy="365760"/>
          </a:xfrm>
          <a:prstGeom prst="ellipse">
            <a:avLst/>
          </a:prstGeom>
          <a:solidFill>
            <a:srgbClr val="0F9E8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8988552" y="292608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988552" y="324612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5–6+ meses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988552" y="3566160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F7F9F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9171432" y="3703320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completo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71432" y="4142232"/>
            <a:ext cx="21762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clientes, agenda de entregas y reportes; evaluación para escalar hacia el punto físico.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Plan de Migración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348472" y="652881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 · Arquitectura Empresarial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943600" cy="5943600"/>
          </a:xfrm>
          <a:prstGeom prst="ellipse">
            <a:avLst/>
          </a:prstGeom>
          <a:solidFill>
            <a:srgbClr val="15254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-2377440" y="4846320"/>
            <a:ext cx="4754880" cy="4754880"/>
          </a:xfrm>
          <a:prstGeom prst="ellipse">
            <a:avLst/>
          </a:prstGeom>
          <a:solidFill>
            <a:srgbClr val="15254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0" b="1" dirty="0">
                <a:solidFill>
                  <a:srgbClr val="0F9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685800" y="36118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 Gobernanza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44348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responsabilidades y políticas para sostener el sistema en el tiempo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 GOBERNANZA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y políticas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83864" cy="2084832"/>
          </a:xfrm>
          <a:prstGeom prst="roundRect">
            <a:avLst>
              <a:gd name="adj" fmla="val 3947"/>
            </a:avLst>
          </a:prstGeom>
          <a:solidFill>
            <a:srgbClr val="F7F9F9"/>
          </a:solidFill>
          <a:ln/>
          <a:effectLst>
            <a:outerShdw blurRad="76200" dist="25400" dir="54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804672" y="1837944"/>
            <a:ext cx="457200" cy="457200"/>
          </a:xfrm>
          <a:prstGeom prst="ellipse">
            <a:avLst/>
          </a:prstGeom>
          <a:solidFill>
            <a:srgbClr val="0F9E8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804672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819656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 err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r>
              <a:rPr lang="en-US" sz="15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sistema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04672" y="2441448"/>
            <a:ext cx="2971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250" dirty="0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n-US" sz="1250" dirty="0" err="1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propietario</a:t>
            </a:r>
            <a:r>
              <a:rPr lang="en-US" sz="1250" dirty="0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responsable de mantener actualizados los estados de cada pedido y la información de catálogo (precios, plantillas de cotización).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52544" y="1600200"/>
            <a:ext cx="3483864" cy="2084832"/>
          </a:xfrm>
          <a:prstGeom prst="roundRect">
            <a:avLst>
              <a:gd name="adj" fmla="val 3947"/>
            </a:avLst>
          </a:prstGeom>
          <a:solidFill>
            <a:srgbClr val="F7F9F9"/>
          </a:solidFill>
          <a:ln/>
          <a:effectLst>
            <a:outerShdw blurRad="76200" dist="25400" dir="54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608576" y="1837944"/>
            <a:ext cx="457200" cy="457200"/>
          </a:xfrm>
          <a:prstGeom prst="ellipse">
            <a:avLst/>
          </a:prstGeom>
          <a:solidFill>
            <a:srgbClr val="0F9E8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608576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21224" y="1819656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Usuaria de atención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608576" y="2441448"/>
            <a:ext cx="2971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mamá utiliza el panel de solicitudes para dar primera respuesta y mantener actualizado el contacto de cada cliente desde Instagram.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56448" y="1600200"/>
            <a:ext cx="3483864" cy="2084832"/>
          </a:xfrm>
          <a:prstGeom prst="roundRect">
            <a:avLst>
              <a:gd name="adj" fmla="val 3947"/>
            </a:avLst>
          </a:prstGeom>
          <a:solidFill>
            <a:srgbClr val="F7F9F9"/>
          </a:solidFill>
          <a:ln/>
          <a:effectLst>
            <a:outerShdw blurRad="76200" dist="25400" dir="54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8412480" y="1837944"/>
            <a:ext cx="457200" cy="457200"/>
          </a:xfrm>
          <a:prstGeom prst="ellipse">
            <a:avLst/>
          </a:prstGeom>
          <a:solidFill>
            <a:srgbClr val="0F9E8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8412480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025128" y="1819656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Respaldo de datos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412480" y="2441448"/>
            <a:ext cx="2971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 de seguridad periódica de la base de datos de clientes y pedidos, evitando depender de un único dispositivo.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005072"/>
            <a:ext cx="3483864" cy="2084832"/>
          </a:xfrm>
          <a:prstGeom prst="roundRect">
            <a:avLst>
              <a:gd name="adj" fmla="val 3947"/>
            </a:avLst>
          </a:prstGeom>
          <a:solidFill>
            <a:srgbClr val="F7F9F9"/>
          </a:solidFill>
          <a:ln/>
          <a:effectLst>
            <a:outerShdw blurRad="76200" dist="25400" dir="54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804672" y="4242816"/>
            <a:ext cx="457200" cy="457200"/>
          </a:xfrm>
          <a:prstGeom prst="ellipse">
            <a:avLst/>
          </a:prstGeom>
          <a:solidFill>
            <a:srgbClr val="0F9E8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804672" y="4242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4224528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04672" y="4846320"/>
            <a:ext cx="2971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responsable de los datos de contacto de los clientes (nombre, teléfono): solo para gestionar el pedido, sin compartirlos con terceros.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52544" y="4005072"/>
            <a:ext cx="3483864" cy="2084832"/>
          </a:xfrm>
          <a:prstGeom prst="roundRect">
            <a:avLst>
              <a:gd name="adj" fmla="val 3947"/>
            </a:avLst>
          </a:prstGeom>
          <a:solidFill>
            <a:srgbClr val="F7F9F9"/>
          </a:solidFill>
          <a:ln/>
          <a:effectLst>
            <a:outerShdw blurRad="76200" dist="25400" dir="54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4608576" y="4242816"/>
            <a:ext cx="457200" cy="457200"/>
          </a:xfrm>
          <a:prstGeom prst="ellipse">
            <a:avLst/>
          </a:prstGeom>
          <a:solidFill>
            <a:srgbClr val="0F9E8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4608576" y="4242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21224" y="4224528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periódica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4608576" y="4846320"/>
            <a:ext cx="2971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mensual de tiempos de respuesta y solicitudes pendientes, para verificar que el sistema esté cumpliendo su objetivo.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56448" y="4005072"/>
            <a:ext cx="3483864" cy="2084832"/>
          </a:xfrm>
          <a:prstGeom prst="roundRect">
            <a:avLst>
              <a:gd name="adj" fmla="val 3947"/>
            </a:avLst>
          </a:prstGeom>
          <a:solidFill>
            <a:srgbClr val="F7F9F9"/>
          </a:solidFill>
          <a:ln/>
          <a:effectLst>
            <a:outerShdw blurRad="76200" dist="25400" dir="54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8412480" y="4242816"/>
            <a:ext cx="457200" cy="457200"/>
          </a:xfrm>
          <a:prstGeom prst="ellipse">
            <a:avLst/>
          </a:prstGeom>
          <a:solidFill>
            <a:srgbClr val="0F9E8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8412480" y="4242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025128" y="4224528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cambios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8412480" y="4846320"/>
            <a:ext cx="2971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ajuste al catálogo de estados o a la plantilla de cotización lo autoriza la propietaria, como dueña del proceso.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Implementación de Gobernanza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348472" y="652881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 · Arquitectura Empresarial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943600" cy="5943600"/>
          </a:xfrm>
          <a:prstGeom prst="ellipse">
            <a:avLst/>
          </a:prstGeom>
          <a:solidFill>
            <a:srgbClr val="15254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-2377440" y="4846320"/>
            <a:ext cx="4754880" cy="4754880"/>
          </a:xfrm>
          <a:prstGeom prst="ellipse">
            <a:avLst/>
          </a:prstGeom>
          <a:solidFill>
            <a:srgbClr val="15254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0" b="1" dirty="0">
                <a:solidFill>
                  <a:srgbClr val="0F9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685800" y="36118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del Cambio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44348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Adopción del sistema por un equipo de 2 personas, sin afectar la relación con el cliente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DEL CAMBIO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del cambio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600200"/>
            <a:ext cx="108813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breve y práctica al </a:t>
            </a:r>
            <a:r>
              <a:rPr lang="en-US" sz="1500" dirty="0" err="1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r>
              <a:rPr lang="en-US" sz="150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</a:t>
            </a:r>
            <a:r>
              <a:rPr lang="en-US" sz="150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uso del panel de solicitudes y pedidos — no se requiere formación técnica extensa.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canales de cara al cliente no cambian: Instagram y WhatsApp se mantienen; el sistema opera “por detrás”, organizando lo que hoy ya llega por esos canales.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la Resistencia: </a:t>
            </a:r>
            <a:r>
              <a:rPr lang="en-US" sz="1600" dirty="0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n-US" sz="1600" dirty="0" err="1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propietario</a:t>
            </a:r>
            <a:r>
              <a:rPr lang="en-US" sz="1600" dirty="0">
                <a:solidFill>
                  <a:srgbClr val="3E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</a:t>
            </a:r>
            <a:r>
              <a:rPr lang="en-US" sz="150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ser “</a:t>
            </a:r>
            <a:r>
              <a:rPr lang="en-US" sz="1500" dirty="0" err="1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desapegado</a:t>
            </a:r>
            <a:r>
              <a:rPr lang="en-US" sz="150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 a responder con inmediatez, por lo que el sistema incorpora alertas de solicitudes sin atender como apoyo, no como reemplazo de su criterio.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36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requiere comunicar el cambio al cliente final: es una mejora interna del proceso de venta, invisible hacia afuera.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–"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cronograma de adopción sigue las mismas fases del plan de migración, empezando por el registro digital básico.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Plan del Cambio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348472" y="652881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 · Arquitectura Empresarial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3108960"/>
            <a:ext cx="7772400" cy="7772400"/>
          </a:xfrm>
          <a:prstGeom prst="ellipse">
            <a:avLst/>
          </a:prstGeom>
          <a:solidFill>
            <a:srgbClr val="15254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-2926080" y="4023360"/>
            <a:ext cx="6035040" cy="6035040"/>
          </a:xfrm>
          <a:prstGeom prst="ellipse">
            <a:avLst/>
          </a:prstGeom>
          <a:solidFill>
            <a:srgbClr val="15254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FRASE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10241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Diseñar un sistema de información para apoyar la gestión de clientes y pedidos de Oasis, centralizando el registro, seguimiento y estado de las solicitudes con el propósito de reducir retrasos en la atención y mejorar el control del proceso de venta.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49808" y="4754880"/>
            <a:ext cx="1188720" cy="0"/>
          </a:xfrm>
          <a:prstGeom prst="line">
            <a:avLst/>
          </a:prstGeom>
          <a:noFill/>
          <a:ln w="31750">
            <a:solidFill>
              <a:srgbClr val="0F9E8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731520" y="4937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— preguntas y comentarios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2065</Words>
  <Application>Microsoft Office PowerPoint</Application>
  <PresentationFormat>Panorámica</PresentationFormat>
  <Paragraphs>250</Paragraphs>
  <Slides>25</Slides>
  <Notes>25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9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Esteban Díaz</cp:lastModifiedBy>
  <cp:revision>4</cp:revision>
  <dcterms:created xsi:type="dcterms:W3CDTF">2026-08-21T03:19:37Z</dcterms:created>
  <dcterms:modified xsi:type="dcterms:W3CDTF">2026-08-22T14:52:18Z</dcterms:modified>
</cp:coreProperties>
</file>